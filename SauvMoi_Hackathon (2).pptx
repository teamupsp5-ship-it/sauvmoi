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56" r:id="rId3"/>
    <p:sldId id="257" r:id="rId4"/>
    <p:sldId id="264" r:id="rId5"/>
    <p:sldId id="258" r:id="rId6"/>
    <p:sldId id="259" r:id="rId7"/>
    <p:sldId id="260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77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5479A6-3B03-2B7D-A2D0-56A52B85331B}"/>
              </a:ext>
            </a:extLst>
          </p:cNvPr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96953C-50F6-A557-8B9F-B8498C82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8" y="0"/>
            <a:ext cx="966651" cy="72217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A822232-CA6F-AAA1-C9A5-45A0505F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910" y="-396661"/>
            <a:ext cx="2473780" cy="2473780"/>
          </a:xfrm>
          <a:prstGeom prst="rect">
            <a:avLst/>
          </a:prstGeom>
        </p:spPr>
      </p:pic>
      <p:sp>
        <p:nvSpPr>
          <p:cNvPr id="15" name="Organigramme : Terminateur 14">
            <a:extLst>
              <a:ext uri="{FF2B5EF4-FFF2-40B4-BE49-F238E27FC236}">
                <a16:creationId xmlns:a16="http://schemas.microsoft.com/office/drawing/2014/main" id="{C223CCEA-00A2-CF78-9389-A44A28C04B73}"/>
              </a:ext>
            </a:extLst>
          </p:cNvPr>
          <p:cNvSpPr/>
          <p:nvPr/>
        </p:nvSpPr>
        <p:spPr>
          <a:xfrm>
            <a:off x="363310" y="916519"/>
            <a:ext cx="1737360" cy="584480"/>
          </a:xfrm>
          <a:prstGeom prst="flowChartTermina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E3CFB7-0FDE-CF82-4C11-60387A37C35A}"/>
              </a:ext>
            </a:extLst>
          </p:cNvPr>
          <p:cNvSpPr/>
          <p:nvPr/>
        </p:nvSpPr>
        <p:spPr>
          <a:xfrm>
            <a:off x="767115" y="1619794"/>
            <a:ext cx="5065451" cy="129322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9BD042C-60EF-F833-6AB3-20552706A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744" y="-126422"/>
            <a:ext cx="966651" cy="96665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ADFADDB-878A-19A2-7F6D-366C15918C33}"/>
              </a:ext>
            </a:extLst>
          </p:cNvPr>
          <p:cNvSpPr txBox="1"/>
          <p:nvPr/>
        </p:nvSpPr>
        <p:spPr>
          <a:xfrm>
            <a:off x="424543" y="977927"/>
            <a:ext cx="169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 Black" panose="020B0A04020102020204" pitchFamily="34" charset="0"/>
              </a:rPr>
              <a:t>THÈME : </a:t>
            </a:r>
            <a:endParaRPr lang="fr-CI" sz="2400" dirty="0">
              <a:latin typeface="Arial Black" panose="020B0A040201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BADDB27-FEE6-5D38-C438-8E8614095481}"/>
              </a:ext>
            </a:extLst>
          </p:cNvPr>
          <p:cNvSpPr txBox="1"/>
          <p:nvPr/>
        </p:nvSpPr>
        <p:spPr>
          <a:xfrm>
            <a:off x="767115" y="1695339"/>
            <a:ext cx="5013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L’IA ET SERVICE  UNIVERSEL DES TÉLÉCOMMUNICATIONS COMMUNICATIONS TIC; TRANSFORMER ACCÈS EN IMPACT</a:t>
            </a:r>
            <a:endParaRPr lang="fr-CI" dirty="0">
              <a:latin typeface="Arial Black" panose="020B0A040201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9B1670C-5EA7-DFD9-C96D-28097295B62F}"/>
              </a:ext>
            </a:extLst>
          </p:cNvPr>
          <p:cNvSpPr/>
          <p:nvPr/>
        </p:nvSpPr>
        <p:spPr>
          <a:xfrm>
            <a:off x="6995159" y="4753402"/>
            <a:ext cx="1698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 ·  Hackathon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5171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731520"/>
            <a:ext cx="2194560" cy="2194560"/>
          </a:xfrm>
          <a:prstGeom prst="ellipse">
            <a:avLst/>
          </a:prstGeom>
          <a:solidFill>
            <a:srgbClr val="9B1B1B"/>
          </a:solidFill>
          <a:ln w="12700">
            <a:solidFill>
              <a:srgbClr val="9B1B1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0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SITUATION D'URGENCE,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Rounded MT Bold" panose="020F0704030504030204" pitchFamily="34" charset="0"/>
                <a:ea typeface="Montserrat" pitchFamily="34" charset="-122"/>
                <a:cs typeface="Montserrat" pitchFamily="34" charset="-120"/>
              </a:rPr>
              <a:t>CHAQUE SECONDE</a:t>
            </a:r>
            <a:endParaRPr lang="en-US" sz="36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Rounded MT Bold" panose="020F0704030504030204" pitchFamily="34" charset="0"/>
                <a:ea typeface="Montserrat" pitchFamily="34" charset="-122"/>
                <a:cs typeface="Montserrat" pitchFamily="34" charset="-120"/>
              </a:rPr>
              <a:t>COMPTE.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D6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SAUV'MOI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d'assistance de premiers secours basée sur l'IA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 ·  Hackathon 2026</a:t>
            </a:r>
            <a:endParaRPr lang="en-US" sz="10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B49EFC1-E13A-3EC9-6355-DDBC5821D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835" y="329428"/>
            <a:ext cx="3037930" cy="3037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CI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Problème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agir maintenant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— Hackathon 2026  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 de réactivité et de connaissances en premiers secours coûte des vies chaque jour.</a:t>
            </a:r>
            <a:endParaRPr lang="en-US" sz="95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5BDFFA1A-D440-5602-9511-6DCFAA5C4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706" y="-189411"/>
            <a:ext cx="1012371" cy="1012371"/>
          </a:xfrm>
          <a:prstGeom prst="rect">
            <a:avLst/>
          </a:prstGeom>
        </p:spPr>
      </p:pic>
      <p:sp>
        <p:nvSpPr>
          <p:cNvPr id="3" name="Shape 5"/>
          <p:cNvSpPr/>
          <p:nvPr/>
        </p:nvSpPr>
        <p:spPr>
          <a:xfrm>
            <a:off x="320040" y="17830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6"/>
          <p:cNvSpPr/>
          <p:nvPr/>
        </p:nvSpPr>
        <p:spPr>
          <a:xfrm>
            <a:off x="320040" y="1783080"/>
            <a:ext cx="2697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847088"/>
            <a:ext cx="502920" cy="50292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411480" y="23591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5%</a:t>
            </a:r>
            <a:endParaRPr lang="en-US" sz="4400" dirty="0"/>
          </a:p>
        </p:txBody>
      </p:sp>
      <p:sp>
        <p:nvSpPr>
          <p:cNvPr id="29" name="Text 8"/>
          <p:cNvSpPr/>
          <p:nvPr/>
        </p:nvSpPr>
        <p:spPr>
          <a:xfrm>
            <a:off x="411480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ivoirienne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formée aux gestes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premiers secours</a:t>
            </a:r>
            <a:endParaRPr lang="en-US" sz="1100" dirty="0"/>
          </a:p>
        </p:txBody>
      </p:sp>
      <p:sp>
        <p:nvSpPr>
          <p:cNvPr id="30" name="Text 9"/>
          <p:cNvSpPr/>
          <p:nvPr/>
        </p:nvSpPr>
        <p:spPr>
          <a:xfrm>
            <a:off x="411480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estimations Croix-Rouge CI, 2023</a:t>
            </a:r>
            <a:endParaRPr lang="en-US" sz="800" dirty="0"/>
          </a:p>
        </p:txBody>
      </p:sp>
      <p:sp>
        <p:nvSpPr>
          <p:cNvPr id="31" name="Shape 10"/>
          <p:cNvSpPr/>
          <p:nvPr/>
        </p:nvSpPr>
        <p:spPr>
          <a:xfrm>
            <a:off x="3172968" y="17830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11"/>
          <p:cNvSpPr/>
          <p:nvPr/>
        </p:nvSpPr>
        <p:spPr>
          <a:xfrm>
            <a:off x="3172968" y="1783080"/>
            <a:ext cx="2697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847088"/>
            <a:ext cx="502920" cy="50292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3264408" y="23591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4400" dirty="0"/>
          </a:p>
        </p:txBody>
      </p:sp>
      <p:sp>
        <p:nvSpPr>
          <p:cNvPr id="35" name="Text 13"/>
          <p:cNvSpPr/>
          <p:nvPr/>
        </p:nvSpPr>
        <p:spPr>
          <a:xfrm>
            <a:off x="3264408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témoins d'un accident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savent pas réagir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faute de formation</a:t>
            </a:r>
            <a:endParaRPr lang="en-US" sz="1100" dirty="0"/>
          </a:p>
        </p:txBody>
      </p:sp>
      <p:sp>
        <p:nvSpPr>
          <p:cNvPr id="36" name="Text 14"/>
          <p:cNvSpPr/>
          <p:nvPr/>
        </p:nvSpPr>
        <p:spPr>
          <a:xfrm>
            <a:off x="3264408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OMS, Rapport sécurité routière Afrique 2022</a:t>
            </a:r>
            <a:endParaRPr lang="en-US" sz="800" dirty="0"/>
          </a:p>
        </p:txBody>
      </p:sp>
      <p:sp>
        <p:nvSpPr>
          <p:cNvPr id="37" name="Shape 15"/>
          <p:cNvSpPr/>
          <p:nvPr/>
        </p:nvSpPr>
        <p:spPr>
          <a:xfrm>
            <a:off x="6025896" y="178308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16"/>
          <p:cNvSpPr/>
          <p:nvPr/>
        </p:nvSpPr>
        <p:spPr>
          <a:xfrm>
            <a:off x="6025896" y="1783080"/>
            <a:ext cx="2697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1847088"/>
            <a:ext cx="502920" cy="502920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6117336" y="235915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4–6 min</a:t>
            </a:r>
            <a:endParaRPr lang="en-US" sz="4400" dirty="0"/>
          </a:p>
        </p:txBody>
      </p:sp>
      <p:sp>
        <p:nvSpPr>
          <p:cNvPr id="41" name="Text 18"/>
          <p:cNvSpPr/>
          <p:nvPr/>
        </p:nvSpPr>
        <p:spPr>
          <a:xfrm>
            <a:off x="6117336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critique avant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dommages cérébraux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irréversibles (arrêt cardiaque)</a:t>
            </a:r>
            <a:endParaRPr lang="en-US" sz="1100" dirty="0"/>
          </a:p>
        </p:txBody>
      </p:sp>
      <p:sp>
        <p:nvSpPr>
          <p:cNvPr id="42" name="Text 19"/>
          <p:cNvSpPr/>
          <p:nvPr/>
        </p:nvSpPr>
        <p:spPr>
          <a:xfrm>
            <a:off x="6117336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Fédération Internationale de Cardiologie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 4 Axes d'Impact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Sauv'Moi répond directement aux enjeux du hackathon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206240" cy="1417320"/>
          </a:xfrm>
          <a:prstGeom prst="rect">
            <a:avLst/>
          </a:prstGeom>
          <a:solidFill>
            <a:srgbClr val="243447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83080"/>
            <a:ext cx="73152" cy="1417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85623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1856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8408" y="2039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numérique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" y="235000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vocale multilingue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(Français, Dioula, Baoulé)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aux malvoyants &amp; malentendants (LSF)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783080"/>
            <a:ext cx="4206240" cy="1417320"/>
          </a:xfrm>
          <a:prstGeom prst="rect">
            <a:avLst/>
          </a:prstGeom>
          <a:solidFill>
            <a:srgbClr val="243447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783080"/>
            <a:ext cx="73152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85623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1856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13248" y="2039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public intelligent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19472" y="235000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immédiat aux gestes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santé d'urgence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 au SAMU &amp; GSPM (185)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3355848"/>
            <a:ext cx="4206240" cy="1417320"/>
          </a:xfrm>
          <a:prstGeom prst="rect">
            <a:avLst/>
          </a:prstGeom>
          <a:solidFill>
            <a:srgbClr val="243447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0040" y="3355848"/>
            <a:ext cx="73152" cy="1417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4290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78408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78408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Collectivités territoriales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84632" y="392277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intelligente des incidents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des zones à risque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citoyen temps réel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3355848"/>
            <a:ext cx="4206240" cy="1417320"/>
          </a:xfrm>
          <a:prstGeom prst="rect">
            <a:avLst/>
          </a:prstGeom>
          <a:solidFill>
            <a:srgbClr val="243447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0" y="3355848"/>
            <a:ext cx="73152" cy="141732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2900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3248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13248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informelle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919472" y="392277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accessibles (FCFA)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0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pour artisans &amp; TPE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8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— Hackathon 2026</a:t>
            </a:r>
            <a:endParaRPr lang="en-US" sz="7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6A0E03AC-22AD-6E2D-EF05-3C5DB4E80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4706" y="-189411"/>
            <a:ext cx="1012371" cy="1012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Solution — Sauv'Moi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0749" y="1124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qui guide, alerte et forme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— Hackathon 2026 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SAUV'MOI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74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guide de survie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poche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69080" y="1627632"/>
            <a:ext cx="475488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69080" y="1627632"/>
            <a:ext cx="502920" cy="9144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76" y="188366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16642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Assistance IA pas-à-pas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63440" y="19933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analyse la situation et guide l'utilisateur avec des instructions claires et adaptées.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069080" y="2651760"/>
            <a:ext cx="475488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069080" y="2651760"/>
            <a:ext cx="50292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29077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6883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 géolocalisée SMS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663440" y="3017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automatique de la position aux secours ou contacts d'urgence, même sans internet.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069080" y="3675888"/>
            <a:ext cx="475488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069080" y="3675888"/>
            <a:ext cx="502920" cy="9144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376" y="39319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63440" y="37124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Formation au secourisme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663440" y="40416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gratuit (bases) + module certifiant premium pour particuliers et professionnels.</a:t>
            </a:r>
            <a:endParaRPr lang="en-US" sz="11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2658705-31E5-AEE6-BA95-163E630E4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4706" y="-189411"/>
            <a:ext cx="1012371" cy="101237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E45620D-FF54-06B8-FCC1-D3A9B486D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487" y="1484594"/>
            <a:ext cx="1614888" cy="3329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ça marche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étapes pour sauver une vie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 — Hackathon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743200" cy="3063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54480"/>
            <a:ext cx="2743200" cy="5486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16" y="164592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017520" y="2926080"/>
            <a:ext cx="201168" cy="128016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28346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282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Décrire la situation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1480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ouvre l'app et décrit ou sélectionne l'urgence : malaise, accident, choc…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18688" y="1554480"/>
            <a:ext cx="2743200" cy="3063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554480"/>
            <a:ext cx="2743200" cy="5486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82" y="164592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961888" y="2926080"/>
            <a:ext cx="201168" cy="128016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61888" y="283464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282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355848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analyse &amp; guide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355848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identifie les gestes adaptés et guide pas à pas de façon simple et visuelle.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63056" y="1554480"/>
            <a:ext cx="2743200" cy="3063240"/>
          </a:xfrm>
          <a:prstGeom prst="rect">
            <a:avLst/>
          </a:prstGeom>
          <a:solidFill>
            <a:srgbClr val="24344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63056" y="1554480"/>
            <a:ext cx="2743200" cy="5486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54496" y="15819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952" y="1636776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0216" y="2212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 &amp; géolocalisation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300216" y="26974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position de la victime est envoyée aux secours et aux contacts d'urgence par SMS.</a:t>
            </a:r>
            <a:endParaRPr lang="en-US" sz="115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01196406-E55B-C253-C5C7-0A9367B7D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4706" y="-189411"/>
            <a:ext cx="1012371" cy="1012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Cible &amp; Modèle Économique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pour tous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E9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UPSP— Hackathon 2026 </a:t>
            </a:r>
            <a:endParaRPr lang="en-US" sz="8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5CCD358-0ABB-DF2B-BDA9-C5883FC2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706" y="-189411"/>
            <a:ext cx="1012371" cy="1012371"/>
          </a:xfrm>
          <a:prstGeom prst="rect">
            <a:avLst/>
          </a:prstGeom>
        </p:spPr>
      </p:pic>
      <p:sp>
        <p:nvSpPr>
          <p:cNvPr id="58" name="Shape 5">
            <a:extLst>
              <a:ext uri="{FF2B5EF4-FFF2-40B4-BE49-F238E27FC236}">
                <a16:creationId xmlns:a16="http://schemas.microsoft.com/office/drawing/2014/main" id="{A0A35FEE-7A74-B2F4-420D-9473263C8815}"/>
              </a:ext>
            </a:extLst>
          </p:cNvPr>
          <p:cNvSpPr/>
          <p:nvPr/>
        </p:nvSpPr>
        <p:spPr>
          <a:xfrm>
            <a:off x="32004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ADD2B3CC-B925-67FB-8767-8F797E1ABB50}"/>
              </a:ext>
            </a:extLst>
          </p:cNvPr>
          <p:cNvSpPr/>
          <p:nvPr/>
        </p:nvSpPr>
        <p:spPr>
          <a:xfrm>
            <a:off x="1371600" y="1810512"/>
            <a:ext cx="640080" cy="64008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C4902A91-936B-8768-3008-FEC926FCF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883664"/>
            <a:ext cx="457200" cy="457200"/>
          </a:xfrm>
          <a:prstGeom prst="rect">
            <a:avLst/>
          </a:prstGeom>
        </p:spPr>
      </p:pic>
      <p:sp>
        <p:nvSpPr>
          <p:cNvPr id="61" name="Text 7">
            <a:extLst>
              <a:ext uri="{FF2B5EF4-FFF2-40B4-BE49-F238E27FC236}">
                <a16:creationId xmlns:a16="http://schemas.microsoft.com/office/drawing/2014/main" id="{C0E2903D-9F66-D2FA-C542-54392E96B1C2}"/>
              </a:ext>
            </a:extLst>
          </p:cNvPr>
          <p:cNvSpPr/>
          <p:nvPr/>
        </p:nvSpPr>
        <p:spPr>
          <a:xfrm>
            <a:off x="41148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400" dirty="0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2B9CE767-F97D-16CF-9CEC-2B981D752FD3}"/>
              </a:ext>
            </a:extLst>
          </p:cNvPr>
          <p:cNvSpPr/>
          <p:nvPr/>
        </p:nvSpPr>
        <p:spPr>
          <a:xfrm>
            <a:off x="411480" y="2798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citoyen souhaitant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prêt face à l'urgence</a:t>
            </a:r>
            <a:endParaRPr lang="en-US" sz="10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D6431CA3-BBB8-3C9F-D5BE-3792335A18FB}"/>
              </a:ext>
            </a:extLst>
          </p:cNvPr>
          <p:cNvSpPr/>
          <p:nvPr/>
        </p:nvSpPr>
        <p:spPr>
          <a:xfrm>
            <a:off x="320040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BC2B32AD-F6EF-661B-6102-C8F4FFAC7E01}"/>
              </a:ext>
            </a:extLst>
          </p:cNvPr>
          <p:cNvSpPr/>
          <p:nvPr/>
        </p:nvSpPr>
        <p:spPr>
          <a:xfrm>
            <a:off x="4251960" y="1810512"/>
            <a:ext cx="640080" cy="64008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4D065C10-8807-4B9A-5A1A-9D844B0F0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883664"/>
            <a:ext cx="457200" cy="457200"/>
          </a:xfrm>
          <a:prstGeom prst="rect">
            <a:avLst/>
          </a:prstGeom>
        </p:spPr>
      </p:pic>
      <p:sp>
        <p:nvSpPr>
          <p:cNvPr id="66" name="Text 11">
            <a:extLst>
              <a:ext uri="{FF2B5EF4-FFF2-40B4-BE49-F238E27FC236}">
                <a16:creationId xmlns:a16="http://schemas.microsoft.com/office/drawing/2014/main" id="{B1728AD7-02B7-A514-AEB6-65C6A1F3D2B8}"/>
              </a:ext>
            </a:extLst>
          </p:cNvPr>
          <p:cNvSpPr/>
          <p:nvPr/>
        </p:nvSpPr>
        <p:spPr>
          <a:xfrm>
            <a:off x="329184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Professionnels</a:t>
            </a:r>
            <a:endParaRPr lang="en-US" sz="1400" dirty="0"/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6DADF715-AA9C-41E6-D9BC-BB27670E67E1}"/>
              </a:ext>
            </a:extLst>
          </p:cNvPr>
          <p:cNvSpPr/>
          <p:nvPr/>
        </p:nvSpPr>
        <p:spPr>
          <a:xfrm>
            <a:off x="3291840" y="2798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Soignants et agents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sécurité en renforcement</a:t>
            </a:r>
            <a:endParaRPr lang="en-US" sz="1000" dirty="0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182FCDBE-3548-27E8-274D-4F919BF260A7}"/>
              </a:ext>
            </a:extLst>
          </p:cNvPr>
          <p:cNvSpPr/>
          <p:nvPr/>
        </p:nvSpPr>
        <p:spPr>
          <a:xfrm>
            <a:off x="6080760" y="1737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2C96B4D3-760F-E868-3649-5DA07F4FB8A9}"/>
              </a:ext>
            </a:extLst>
          </p:cNvPr>
          <p:cNvSpPr/>
          <p:nvPr/>
        </p:nvSpPr>
        <p:spPr>
          <a:xfrm>
            <a:off x="7132320" y="1810512"/>
            <a:ext cx="640080" cy="640080"/>
          </a:xfrm>
          <a:prstGeom prst="ellipse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pic>
        <p:nvPicPr>
          <p:cNvPr id="70" name="Image 2" descr="preencoded.png">
            <a:extLst>
              <a:ext uri="{FF2B5EF4-FFF2-40B4-BE49-F238E27FC236}">
                <a16:creationId xmlns:a16="http://schemas.microsoft.com/office/drawing/2014/main" id="{5717B537-36FB-704E-17C9-2E4E7681C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883664"/>
            <a:ext cx="457200" cy="4572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F64F0F2D-5207-02FA-7AD8-7ACF1540BDCD}"/>
              </a:ext>
            </a:extLst>
          </p:cNvPr>
          <p:cNvSpPr/>
          <p:nvPr/>
        </p:nvSpPr>
        <p:spPr>
          <a:xfrm>
            <a:off x="617220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40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FDB941F3-DF5F-43C5-51D8-AE18F9999EA1}"/>
              </a:ext>
            </a:extLst>
          </p:cNvPr>
          <p:cNvSpPr/>
          <p:nvPr/>
        </p:nvSpPr>
        <p:spPr>
          <a:xfrm>
            <a:off x="6172200" y="2798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certifiante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équipes en milieu pro</a:t>
            </a:r>
            <a:endParaRPr lang="en-US" sz="100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BE22E23B-E32A-DF32-DBA6-D6ADFAFAF8DF}"/>
              </a:ext>
            </a:extLst>
          </p:cNvPr>
          <p:cNvSpPr/>
          <p:nvPr/>
        </p:nvSpPr>
        <p:spPr>
          <a:xfrm>
            <a:off x="45720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revenus</a:t>
            </a:r>
            <a:endParaRPr lang="en-US" sz="160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FBBC7B95-4B15-2F00-23B8-4BFB13FF844E}"/>
              </a:ext>
            </a:extLst>
          </p:cNvPr>
          <p:cNvSpPr/>
          <p:nvPr/>
        </p:nvSpPr>
        <p:spPr>
          <a:xfrm>
            <a:off x="320040" y="3657600"/>
            <a:ext cx="2743200" cy="105156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892D1A26-A26B-DBCE-9264-B5D912989F1F}"/>
              </a:ext>
            </a:extLst>
          </p:cNvPr>
          <p:cNvSpPr/>
          <p:nvPr/>
        </p:nvSpPr>
        <p:spPr>
          <a:xfrm>
            <a:off x="411480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GRATUIT</a:t>
            </a:r>
            <a:endParaRPr lang="en-US" sz="18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777A2884-48F3-E912-1E44-91162A003284}"/>
              </a:ext>
            </a:extLst>
          </p:cNvPr>
          <p:cNvSpPr/>
          <p:nvPr/>
        </p:nvSpPr>
        <p:spPr>
          <a:xfrm>
            <a:off x="411480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de 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assistance urgence</a:t>
            </a:r>
            <a:endParaRPr lang="en-US" sz="1000" dirty="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4280C833-AAB2-3427-A186-B0FD0F42A967}"/>
              </a:ext>
            </a:extLst>
          </p:cNvPr>
          <p:cNvSpPr/>
          <p:nvPr/>
        </p:nvSpPr>
        <p:spPr>
          <a:xfrm>
            <a:off x="3200400" y="3657600"/>
            <a:ext cx="274320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6899110D-AE66-444F-275C-F8F842D4C0FB}"/>
              </a:ext>
            </a:extLst>
          </p:cNvPr>
          <p:cNvSpPr/>
          <p:nvPr/>
        </p:nvSpPr>
        <p:spPr>
          <a:xfrm>
            <a:off x="3291840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8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D14099BF-F455-FC81-1270-D475740D703C}"/>
              </a:ext>
            </a:extLst>
          </p:cNvPr>
          <p:cNvSpPr/>
          <p:nvPr/>
        </p:nvSpPr>
        <p:spPr>
          <a:xfrm>
            <a:off x="3291840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certifiante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avancée · Individuel</a:t>
            </a:r>
            <a:endParaRPr lang="en-US" sz="10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6175B949-D178-C432-DC50-EE4F8A9A9611}"/>
              </a:ext>
            </a:extLst>
          </p:cNvPr>
          <p:cNvSpPr/>
          <p:nvPr/>
        </p:nvSpPr>
        <p:spPr>
          <a:xfrm>
            <a:off x="6080760" y="3657600"/>
            <a:ext cx="2743200" cy="10515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02055527-248D-26A9-1AC6-BCC6E7B79639}"/>
              </a:ext>
            </a:extLst>
          </p:cNvPr>
          <p:cNvSpPr/>
          <p:nvPr/>
        </p:nvSpPr>
        <p:spPr>
          <a:xfrm>
            <a:off x="6172200" y="3730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180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EBFFA410-28A4-EECA-8C8F-33A55C252477}"/>
              </a:ext>
            </a:extLst>
          </p:cNvPr>
          <p:cNvSpPr/>
          <p:nvPr/>
        </p:nvSpPr>
        <p:spPr>
          <a:xfrm>
            <a:off x="6172200" y="4096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entreprises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institutions publiques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5029200" cy="5029200"/>
          </a:xfrm>
          <a:prstGeom prst="ellipse">
            <a:avLst/>
          </a:prstGeom>
          <a:solidFill>
            <a:srgbClr val="9B1B1B"/>
          </a:solidFill>
          <a:ln w="12700">
            <a:solidFill>
              <a:srgbClr val="9B1B1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48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VIE SAUVÉE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COMMENCE PAR UN GESTE.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4297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SAUV'MOI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·  TEAM UPSP</a:t>
            </a:r>
            <a:endParaRPr lang="en-US" sz="9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589A799-132E-196E-DF4F-BB3E54379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861" y="-457200"/>
            <a:ext cx="4819623" cy="4819623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05263D6A-14CE-B293-D38C-448572F2C106}"/>
              </a:ext>
            </a:extLst>
          </p:cNvPr>
          <p:cNvSpPr/>
          <p:nvPr/>
        </p:nvSpPr>
        <p:spPr>
          <a:xfrm>
            <a:off x="457200" y="20299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Sauv'Moi rend ce geste possible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chacun, partout, maintenant.</a:t>
            </a:r>
            <a:endParaRPr lang="en-US" sz="1400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410FA23F-7915-77EF-1891-E20B48E5D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52928"/>
            <a:ext cx="201168" cy="201168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6BDC91A3-0720-590C-DA8D-E97F69C0BE0C}"/>
              </a:ext>
            </a:extLst>
          </p:cNvPr>
          <p:cNvSpPr/>
          <p:nvPr/>
        </p:nvSpPr>
        <p:spPr>
          <a:xfrm>
            <a:off x="749808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d'assistance en temps réel + analyse photo</a:t>
            </a:r>
            <a:endParaRPr lang="en-US" sz="1250" dirty="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400C7262-B24E-3CF4-E4AC-845CE1726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36976"/>
            <a:ext cx="201168" cy="201168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4BBD54FC-8E26-8EA7-B636-48E04F72CEBB}"/>
              </a:ext>
            </a:extLst>
          </p:cNvPr>
          <p:cNvSpPr/>
          <p:nvPr/>
        </p:nvSpPr>
        <p:spPr>
          <a:xfrm>
            <a:off x="749808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SMS géolocalisée sans internet</a:t>
            </a:r>
            <a:endParaRPr lang="en-US" sz="1250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FF46526E-6EA7-4051-5F2B-2721800B0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21024"/>
            <a:ext cx="201168" cy="201168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39208BA6-E812-825F-4BD5-0FA9F1BE1597}"/>
              </a:ext>
            </a:extLst>
          </p:cNvPr>
          <p:cNvSpPr/>
          <p:nvPr/>
        </p:nvSpPr>
        <p:spPr>
          <a:xfrm>
            <a:off x="749808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certifiante multilingue (FR / Dioula / Baoulé /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Bété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495</Words>
  <Application>Microsoft Office PowerPoint</Application>
  <PresentationFormat>Affichage à l'écran (16:9)</PresentationFormat>
  <Paragraphs>115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Rounded MT Bold</vt:lpstr>
      <vt:lpstr>Calibri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Sauv'Moi – Présentation Hackathon</dc:title>
  <dc:subject>PptxGenJS Presentation</dc:subject>
  <dc:creator>Équipe Sauv'Moi</dc:creator>
  <cp:lastModifiedBy>blackstondbrakerj@gmail.com</cp:lastModifiedBy>
  <cp:revision>9</cp:revision>
  <dcterms:created xsi:type="dcterms:W3CDTF">2026-05-23T03:57:39Z</dcterms:created>
  <dcterms:modified xsi:type="dcterms:W3CDTF">2026-05-23T15:57:47Z</dcterms:modified>
</cp:coreProperties>
</file>